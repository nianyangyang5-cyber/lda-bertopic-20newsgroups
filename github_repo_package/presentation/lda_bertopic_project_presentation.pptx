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0596d484234d3f" /><Relationship Type="http://schemas.openxmlformats.org/officeDocument/2006/relationships/extended-properties" Target="/docProps/app.xml" Id="Re2ccff64fad94a51" /><Relationship Type="http://schemas.openxmlformats.org/officeDocument/2006/relationships/officeDocument" Target="/ppt/presentation.xml" Id="Rc6e3ae88a41441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c9e9c3cdc4f7a"/>
  </p:sldMasterIdLst>
  <p:notesMasterIdLst>
    <p:notesMasterId xmlns:r="http://schemas.openxmlformats.org/officeDocument/2006/relationships" r:id="R52088799341f4bb2"/>
  </p:notesMasterIdLst>
  <p:sldIdLst>
    <p:sldId xmlns:r="http://schemas.openxmlformats.org/officeDocument/2006/relationships" id="256" r:id="Re4da5a78b5124a58"/>
    <p:sldId xmlns:r="http://schemas.openxmlformats.org/officeDocument/2006/relationships" id="257" r:id="R913db80af0cb4c48"/>
    <p:sldId xmlns:r="http://schemas.openxmlformats.org/officeDocument/2006/relationships" id="258" r:id="R5bf60efa202b4987"/>
    <p:sldId xmlns:r="http://schemas.openxmlformats.org/officeDocument/2006/relationships" id="259" r:id="Rd35026c809844f6e"/>
    <p:sldId xmlns:r="http://schemas.openxmlformats.org/officeDocument/2006/relationships" id="260" r:id="Re1c7b679e94745e7"/>
    <p:sldId xmlns:r="http://schemas.openxmlformats.org/officeDocument/2006/relationships" id="261" r:id="R1f8beb4c3986408d"/>
    <p:sldId xmlns:r="http://schemas.openxmlformats.org/officeDocument/2006/relationships" id="262" r:id="R984c5030572b4d12"/>
    <p:sldId xmlns:r="http://schemas.openxmlformats.org/officeDocument/2006/relationships" id="263" r:id="R0a19b63c6caf493f"/>
    <p:sldId xmlns:r="http://schemas.openxmlformats.org/officeDocument/2006/relationships" id="264" r:id="R8804bcc0c5a241fd"/>
    <p:sldId xmlns:r="http://schemas.openxmlformats.org/officeDocument/2006/relationships" id="265" r:id="Rd10d373afaa04b25"/>
    <p:sldId xmlns:r="http://schemas.openxmlformats.org/officeDocument/2006/relationships" id="266" r:id="R8f7360adb5d64dc3"/>
    <p:sldId xmlns:r="http://schemas.openxmlformats.org/officeDocument/2006/relationships" id="267" r:id="R8eaa3924f46f4ab9"/>
    <p:sldId xmlns:r="http://schemas.openxmlformats.org/officeDocument/2006/relationships" id="268" r:id="R7cdb2808fe2d419a"/>
    <p:sldId xmlns:r="http://schemas.openxmlformats.org/officeDocument/2006/relationships" id="269" r:id="R2d84f267875340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3C6B21E1-70BE-4170-ADDC-B6ECAF09B133}">
  <a:tblStyle styleId="{3C6B21E1-70BE-4170-ADDC-B6ECAF09B1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2f728122644c0" /><Relationship Type="http://schemas.openxmlformats.org/officeDocument/2006/relationships/slideMaster" Target="/ppt/slideMasters/slideMaster1.xml" Id="Rad7c9e9c3cdc4f7a" /><Relationship Type="http://schemas.openxmlformats.org/officeDocument/2006/relationships/notesMaster" Target="/ppt/notesMasters/notesMaster1.xml" Id="R52088799341f4bb2" /><Relationship Type="http://schemas.openxmlformats.org/officeDocument/2006/relationships/presProps" Target="/ppt/presProps.xml" Id="R3f25fc2357d749de" /><Relationship Type="http://schemas.openxmlformats.org/officeDocument/2006/relationships/tableStyles" Target="/ppt/tableStyles.xml" Id="R1b8f0b6fa5db4a5a" /><Relationship Type="http://schemas.openxmlformats.org/officeDocument/2006/relationships/slide" Target="/ppt/slides/slide1.xml" Id="Re4da5a78b5124a58" /><Relationship Type="http://schemas.openxmlformats.org/officeDocument/2006/relationships/slide" Target="/ppt/slides/slide2.xml" Id="R913db80af0cb4c48" /><Relationship Type="http://schemas.openxmlformats.org/officeDocument/2006/relationships/slide" Target="/ppt/slides/slide3.xml" Id="R5bf60efa202b4987" /><Relationship Type="http://schemas.openxmlformats.org/officeDocument/2006/relationships/slide" Target="/ppt/slides/slide4.xml" Id="Rd35026c809844f6e" /><Relationship Type="http://schemas.openxmlformats.org/officeDocument/2006/relationships/slide" Target="/ppt/slides/slide5.xml" Id="Re1c7b679e94745e7" /><Relationship Type="http://schemas.openxmlformats.org/officeDocument/2006/relationships/slide" Target="/ppt/slides/slide6.xml" Id="R1f8beb4c3986408d" /><Relationship Type="http://schemas.openxmlformats.org/officeDocument/2006/relationships/slide" Target="/ppt/slides/slide7.xml" Id="R984c5030572b4d12" /><Relationship Type="http://schemas.openxmlformats.org/officeDocument/2006/relationships/slide" Target="/ppt/slides/slide8.xml" Id="R0a19b63c6caf493f" /><Relationship Type="http://schemas.openxmlformats.org/officeDocument/2006/relationships/slide" Target="/ppt/slides/slide9.xml" Id="R8804bcc0c5a241fd" /><Relationship Type="http://schemas.openxmlformats.org/officeDocument/2006/relationships/slide" Target="/ppt/slides/slide10.xml" Id="Rd10d373afaa04b25" /><Relationship Type="http://schemas.openxmlformats.org/officeDocument/2006/relationships/slide" Target="/ppt/slides/slide11.xml" Id="R8f7360adb5d64dc3" /><Relationship Type="http://schemas.openxmlformats.org/officeDocument/2006/relationships/slide" Target="/ppt/slides/slide12.xml" Id="R8eaa3924f46f4ab9" /><Relationship Type="http://schemas.openxmlformats.org/officeDocument/2006/relationships/slide" Target="/ppt/slides/slide13.xml" Id="R7cdb2808fe2d419a" /><Relationship Type="http://schemas.openxmlformats.org/officeDocument/2006/relationships/slide" Target="/ppt/slides/slide14.xml" Id="R2d84f267875340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c26f426347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04d51c9054a1c" /><Relationship Type="http://schemas.openxmlformats.org/officeDocument/2006/relationships/notesMaster" Target="/ppt/notesMasters/notesMaster1.xml" Id="R1721a82fdecc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969a678ad74c79" /><Relationship Type="http://schemas.openxmlformats.org/officeDocument/2006/relationships/notesMaster" Target="/ppt/notesMasters/notesMaster1.xml" Id="Rc0f51328f13f4e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91a93ad7c942d4" /><Relationship Type="http://schemas.openxmlformats.org/officeDocument/2006/relationships/notesMaster" Target="/ppt/notesMasters/notesMaster1.xml" Id="R82cfd2f6143d4d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961175bf9a4bec" /><Relationship Type="http://schemas.openxmlformats.org/officeDocument/2006/relationships/notesMaster" Target="/ppt/notesMasters/notesMaster1.xml" Id="R8eff9da7886044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61d5cde86c45fa" /><Relationship Type="http://schemas.openxmlformats.org/officeDocument/2006/relationships/notesMaster" Target="/ppt/notesMasters/notesMaster1.xml" Id="R2274316008d942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0df7104944145" /><Relationship Type="http://schemas.openxmlformats.org/officeDocument/2006/relationships/notesMaster" Target="/ppt/notesMasters/notesMaster1.xml" Id="Rfb19d62015e848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afeddbb67f449f" /><Relationship Type="http://schemas.openxmlformats.org/officeDocument/2006/relationships/notesMaster" Target="/ppt/notesMasters/notesMaster1.xml" Id="R043f1e89c99348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82841824b0409e" /><Relationship Type="http://schemas.openxmlformats.org/officeDocument/2006/relationships/notesMaster" Target="/ppt/notesMasters/notesMaster1.xml" Id="R17f7dcf0cc5243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b50fdb7b504d86" /><Relationship Type="http://schemas.openxmlformats.org/officeDocument/2006/relationships/notesMaster" Target="/ppt/notesMasters/notesMaster1.xml" Id="R472bf232257942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debba574ed4b8a" /><Relationship Type="http://schemas.openxmlformats.org/officeDocument/2006/relationships/notesMaster" Target="/ppt/notesMasters/notesMaster1.xml" Id="R61b2338119cd4e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7d8f2a10b8439f" /><Relationship Type="http://schemas.openxmlformats.org/officeDocument/2006/relationships/notesMaster" Target="/ppt/notesMasters/notesMaster1.xml" Id="Rd964b43d43a54b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b7409b18e84a22" /><Relationship Type="http://schemas.openxmlformats.org/officeDocument/2006/relationships/notesMaster" Target="/ppt/notesMasters/notesMaster1.xml" Id="R9aab809645dc45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c8731f21fb4e96" /><Relationship Type="http://schemas.openxmlformats.org/officeDocument/2006/relationships/notesMaster" Target="/ppt/notesMasters/notesMaster1.xml" Id="Rb9d30a1c70a147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6a34de7b9b4153" /><Relationship Type="http://schemas.openxmlformats.org/officeDocument/2006/relationships/notesMaster" Target="/ppt/notesMasters/notesMaster1.xml" Id="R8014fe4c03d743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e81182a26430a" /><Relationship Type="http://schemas.openxmlformats.org/officeDocument/2006/relationships/image" Target="/ppt/media/image.jpeg" Id="R3c4802323e7f4c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aa36d74fc48ca" /><Relationship Type="http://schemas.openxmlformats.org/officeDocument/2006/relationships/image" Target="/ppt/media/image2.jpeg" Id="R88316c0f12764c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42cc7c51842af" /><Relationship Type="http://schemas.openxmlformats.org/officeDocument/2006/relationships/image" Target="/ppt/media/image3.jpeg" Id="Rd9113a5356554a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54c7a324a46d3" /><Relationship Type="http://schemas.openxmlformats.org/officeDocument/2006/relationships/image" Target="/ppt/media/image4.jpeg" Id="R267731d124a141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0c7cd39f14248" /><Relationship Type="http://schemas.openxmlformats.org/officeDocument/2006/relationships/image" Target="/ppt/media/image.png" Id="Rf1f9a9dd5531441a" /></Relationships>
</file>

<file path=ppt/slideLayouts/slideLayout1.xml><?xml version="1.0" encoding="utf-8"?>
<p:sldLayout xmlns:p="http://schemas.openxmlformats.org/presentationml/2006/main" matchingName="Титульный слайд" type="title">
  <p:cSld name="TITLE">
    <p:bg>
      <p:bgPr>
        <a:blipFill xmlns:a="http://schemas.openxmlformats.org/drawingml/2006/main">
          <a:blip xmlns:r="http://schemas.openxmlformats.org/officeDocument/2006/relationships" r:embed="R3c4802323e7f4c5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7">
            <a:extLst xmlns:a="http://schemas.openxmlformats.org/drawingml/2006/main">
              <a:ext uri="{FF2B5EF4-FFF2-40B4-BE49-F238E27FC236}">
                <a16:creationId xmlns:a16="http://schemas.microsoft.com/office/drawing/2014/main" id="{0F73D858-0277-4206-9A7F-5A40B06A66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2490281"/>
            <a:ext cx="9144000" cy="1475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7">
            <a:extLst xmlns:a="http://schemas.openxmlformats.org/drawingml/2006/main">
              <a:ext uri="{FF2B5EF4-FFF2-40B4-BE49-F238E27FC236}">
                <a16:creationId xmlns:a16="http://schemas.microsoft.com/office/drawing/2014/main" id="{E3C33583-DD44-489D-B8BC-7837CA1C4B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805890" y="4175394"/>
            <a:ext cx="5871990" cy="227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8" name="Google Shape;18;p17">
            <a:extLst xmlns:a="http://schemas.openxmlformats.org/drawingml/2006/main">
              <a:ext uri="{FF2B5EF4-FFF2-40B4-BE49-F238E27FC236}">
                <a16:creationId xmlns:a16="http://schemas.microsoft.com/office/drawing/2014/main" id="{936A8ADC-A107-4E76-8FF2-17B4B6F5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30868"/>
            <a:ext cx="914400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01.04.02 </a:t>
            </a:r>
            <a:r>
              <a:rPr sz="1800" b="0" i="0" u="non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Прикладная математика и информатика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Пустой слайд">
  <p:cSld name="Пустой слайд">
    <p:bg>
      <p:bgPr>
        <a:blipFill xmlns:a="http://schemas.openxmlformats.org/drawingml/2006/main">
          <a:blip xmlns:r="http://schemas.openxmlformats.org/officeDocument/2006/relationships" r:embed="R88316c0f12764c8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8">
            <a:extLst xmlns:a="http://schemas.openxmlformats.org/drawingml/2006/main">
              <a:ext uri="{FF2B5EF4-FFF2-40B4-BE49-F238E27FC236}">
                <a16:creationId xmlns:a16="http://schemas.microsoft.com/office/drawing/2014/main" id="{BC0D2FF9-6A8B-4378-A9A9-648EB8330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8">
            <a:extLst xmlns:a="http://schemas.openxmlformats.org/drawingml/2006/main">
              <a:ext uri="{FF2B5EF4-FFF2-40B4-BE49-F238E27FC236}">
                <a16:creationId xmlns:a16="http://schemas.microsoft.com/office/drawing/2014/main" id="{42705CB4-F564-427F-BE1F-8C075A3C65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21531" y="635634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18">
            <a:extLst xmlns:a="http://schemas.openxmlformats.org/drawingml/2006/main">
              <a:ext uri="{FF2B5EF4-FFF2-40B4-BE49-F238E27FC236}">
                <a16:creationId xmlns:a16="http://schemas.microsoft.com/office/drawing/2014/main" id="{2C972946-9E3F-40A4-9C7F-7D45799053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8">
            <a:extLst xmlns:a="http://schemas.openxmlformats.org/drawingml/2006/main">
              <a:ext uri="{FF2B5EF4-FFF2-40B4-BE49-F238E27FC236}">
                <a16:creationId xmlns:a16="http://schemas.microsoft.com/office/drawing/2014/main" id="{AB570D4A-5B48-4646-AF55-75A22E16CC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  <p:sp>
        <p:nvSpPr>
          <p:cNvPr id="24" name="Google Shape;24;p18">
            <a:extLst xmlns:a="http://schemas.openxmlformats.org/drawingml/2006/main">
              <a:ext uri="{FF2B5EF4-FFF2-40B4-BE49-F238E27FC236}">
                <a16:creationId xmlns:a16="http://schemas.microsoft.com/office/drawing/2014/main" id="{B0382661-6370-4901-AA36-2889EE610A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1531" y="1157591"/>
            <a:ext cx="11348194" cy="50097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>
                <a:latin typeface="Golos Text"/>
                <a:ea typeface="Golos Text"/>
                <a:cs typeface="Golos Text"/>
              </a:defRPr>
            </a:lvl1pPr>
            <a:lvl2pPr marL="914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>
                <a:latin typeface="Golos Text"/>
                <a:ea typeface="Golos Text"/>
                <a:cs typeface="Golos Text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>
                <a:latin typeface="Golos Text"/>
                <a:ea typeface="Golos Text"/>
                <a:cs typeface="Golos Text"/>
              </a:defRPr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>
                <a:latin typeface="Golos Text"/>
                <a:ea typeface="Golos Text"/>
                <a:cs typeface="Golos Text"/>
              </a:defRPr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>
                <a:latin typeface="Golos Text"/>
                <a:ea typeface="Golos Text"/>
                <a:cs typeface="Golos Text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Финальный слайд">
  <p:cSld name="Финальный слайд">
    <p:bg>
      <p:bgPr>
        <a:blipFill xmlns:a="http://schemas.openxmlformats.org/drawingml/2006/main">
          <a:blip xmlns:r="http://schemas.openxmlformats.org/officeDocument/2006/relationships" r:embed="Rd9113a5356554ab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9">
            <a:extLst xmlns:a="http://schemas.openxmlformats.org/drawingml/2006/main">
              <a:ext uri="{FF2B5EF4-FFF2-40B4-BE49-F238E27FC236}">
                <a16:creationId xmlns:a16="http://schemas.microsoft.com/office/drawing/2014/main" id="{BEFCFA41-4134-462D-A099-B300AD67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59013"/>
            <a:ext cx="8229600" cy="620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000" b="1" i="0" u="non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Спасибо</a:t>
            </a:r>
            <a:br/>
            <a:r>
              <a:rPr sz="6000" b="1" i="0" u="none" cap="non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</a:rPr>
              <a:t>за внимание!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1_Title Slide">
  <p:cSld name="1_Title Slide">
    <p:bg>
      <p:bgPr>
        <a:blipFill xmlns:a="http://schemas.openxmlformats.org/drawingml/2006/main">
          <a:blip xmlns:r="http://schemas.openxmlformats.org/officeDocument/2006/relationships" r:embed="R267731d124a1419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g3b30fa2c26e_0_34">
            <a:extLst xmlns:a="http://schemas.openxmlformats.org/drawingml/2006/main">
              <a:ext uri="{FF2B5EF4-FFF2-40B4-BE49-F238E27FC236}">
                <a16:creationId xmlns:a16="http://schemas.microsoft.com/office/drawing/2014/main" id="{CD940A55-830C-45A4-9ED5-30E466FF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888" y="653699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g3b30fa2c26e_0_34">
            <a:extLst xmlns:a="http://schemas.openxmlformats.org/drawingml/2006/main">
              <a:ext uri="{FF2B5EF4-FFF2-40B4-BE49-F238E27FC236}">
                <a16:creationId xmlns:a16="http://schemas.microsoft.com/office/drawing/2014/main" id="{6F614229-E162-4DC7-9932-A96FF57A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068" y="569652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g3b30fa2c26e_0_34">
            <a:extLst xmlns:a="http://schemas.openxmlformats.org/drawingml/2006/main">
              <a:ext uri="{FF2B5EF4-FFF2-40B4-BE49-F238E27FC236}">
                <a16:creationId xmlns:a16="http://schemas.microsoft.com/office/drawing/2014/main" id="{5362D296-F063-4EAC-9994-8A9A9D21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888" y="653699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g3b30fa2c26e_0_34">
            <a:extLst xmlns:a="http://schemas.openxmlformats.org/drawingml/2006/main">
              <a:ext uri="{FF2B5EF4-FFF2-40B4-BE49-F238E27FC236}">
                <a16:creationId xmlns:a16="http://schemas.microsoft.com/office/drawing/2014/main" id="{99E5171C-C042-40C9-9EA5-5BA9F667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068" y="569652"/>
            <a:ext cx="246300" cy="4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" name="Google Shape;32;g3b30fa2c26e_0_34">
            <a:extLst xmlns:a="http://schemas.openxmlformats.org/drawingml/2006/main">
              <a:ext uri="{FF2B5EF4-FFF2-40B4-BE49-F238E27FC236}">
                <a16:creationId xmlns:a16="http://schemas.microsoft.com/office/drawing/2014/main" id="{20EF780B-337A-45D3-A0D8-6B5420A22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8580"/>
            <a:ext cx="9099300" cy="7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4300">
                <a:latin typeface="Golos Text SemiBold"/>
                <a:ea typeface="Golos Text SemiBold"/>
                <a:cs typeface="Golos Text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g3b30fa2c26e_0_34">
            <a:extLst xmlns:a="http://schemas.openxmlformats.org/drawingml/2006/main">
              <a:ext uri="{FF2B5EF4-FFF2-40B4-BE49-F238E27FC236}">
                <a16:creationId xmlns:a16="http://schemas.microsoft.com/office/drawing/2014/main" id="{402446C0-3B82-4BF4-8BD8-3E998473AD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599" y="1386883"/>
            <a:ext cx="11185500" cy="49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normAutofit/>
          </a:bodyPr>
          <a:lstStyle xmlns:a="http://schemas.openxmlformats.org/drawingml/2006/main">
            <a:lvl1pPr marL="457200" indent="-228600" algn="l">
              <a:spcBef>
                <a:spcPts val="500"/>
              </a:spcBef>
              <a:spcAft>
                <a:spcPts val="0"/>
              </a:spcAft>
              <a:buNone/>
              <a:defRPr sz="270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None/>
              <a:defRPr sz="3200"/>
            </a:lvl2pPr>
            <a:lvl3pPr marL="1371600" indent="-228600" algn="l">
              <a:spcBef>
                <a:spcPts val="500"/>
              </a:spcBef>
              <a:spcAft>
                <a:spcPts val="0"/>
              </a:spcAft>
              <a:buNone/>
              <a:defRPr sz="2700"/>
            </a:lvl3pPr>
            <a:lvl4pPr marL="1828800" indent="-228600" algn="l">
              <a:spcBef>
                <a:spcPts val="500"/>
              </a:spcBef>
              <a:spcAft>
                <a:spcPts val="0"/>
              </a:spcAft>
              <a:buNone/>
              <a:defRPr sz="2400"/>
            </a:lvl4pPr>
            <a:lvl5pPr marL="2286000" indent="-228600" algn="l">
              <a:spcBef>
                <a:spcPts val="500"/>
              </a:spcBef>
              <a:spcAft>
                <a:spcPts val="0"/>
              </a:spcAft>
              <a:buNone/>
              <a:defRPr sz="2400"/>
            </a:lvl5pPr>
            <a:lvl6pPr marL="27432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6pPr>
            <a:lvl7pPr marL="32004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7pPr>
            <a:lvl8pPr marL="36576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8pPr>
            <a:lvl9pPr marL="41148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Финал">
  <p:cSld name="Финал">
    <p:bg>
      <p:bgPr>
        <a:blipFill xmlns:a="http://schemas.openxmlformats.org/drawingml/2006/main">
          <a:blip xmlns:r="http://schemas.openxmlformats.org/officeDocument/2006/relationships" r:embed="Rf1f9a9dd5531441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g3b30fa2c26e_0_73">
            <a:extLst xmlns:a="http://schemas.openxmlformats.org/drawingml/2006/main">
              <a:ext uri="{FF2B5EF4-FFF2-40B4-BE49-F238E27FC236}">
                <a16:creationId xmlns:a16="http://schemas.microsoft.com/office/drawing/2014/main" id="{623F57A9-8DD1-419D-B5F6-5A41C96913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2151" y="1644953"/>
            <a:ext cx="9560100" cy="45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None/>
              <a:defRPr sz="2100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None/>
              <a:defRPr sz="2100"/>
            </a:lvl2pPr>
            <a:lvl3pPr marL="1371600" indent="-228600" algn="l">
              <a:spcBef>
                <a:spcPts val="400"/>
              </a:spcBef>
              <a:spcAft>
                <a:spcPts val="0"/>
              </a:spcAft>
              <a:buNone/>
              <a:defRPr sz="2100"/>
            </a:lvl3pPr>
            <a:lvl4pPr marL="1828800" indent="-228600" algn="l">
              <a:spcBef>
                <a:spcPts val="400"/>
              </a:spcBef>
              <a:spcAft>
                <a:spcPts val="0"/>
              </a:spcAft>
              <a:buNone/>
              <a:defRPr sz="2100"/>
            </a:lvl4pPr>
            <a:lvl5pPr marL="2286000" indent="-228600" algn="l">
              <a:spcBef>
                <a:spcPts val="400"/>
              </a:spcBef>
              <a:spcAft>
                <a:spcPts val="0"/>
              </a:spcAft>
              <a:buNone/>
              <a:defRPr sz="2100"/>
            </a:lvl5pPr>
            <a:lvl6pPr marL="2743200" indent="-381000" algn="l"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81000" algn="l"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81000" algn="l"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81000" algn="l"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6" name="Google Shape;36;g3b30fa2c26e_0_73">
            <a:extLst xmlns:a="http://schemas.openxmlformats.org/drawingml/2006/main">
              <a:ext uri="{FF2B5EF4-FFF2-40B4-BE49-F238E27FC236}">
                <a16:creationId xmlns:a16="http://schemas.microsoft.com/office/drawing/2014/main" id="{372BADA3-78A7-44E8-90A0-05064FC5F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08580"/>
            <a:ext cx="9099300" cy="7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ctr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ce8ededb144b99" /><Relationship Type="http://schemas.openxmlformats.org/officeDocument/2006/relationships/slideLayout" Target="/ppt/slideLayouts/slideLayout1.xml" Id="R61c62b614ab84afb" /><Relationship Type="http://schemas.openxmlformats.org/officeDocument/2006/relationships/slideLayout" Target="/ppt/slideLayouts/slideLayout2.xml" Id="Rf5ac6c2b4d844e3f" /><Relationship Type="http://schemas.openxmlformats.org/officeDocument/2006/relationships/slideLayout" Target="/ppt/slideLayouts/slideLayout3.xml" Id="Rbfe2fbe5258a4fbe" /><Relationship Type="http://schemas.openxmlformats.org/officeDocument/2006/relationships/slideLayout" Target="/ppt/slideLayouts/slideLayout4.xml" Id="R11cce6a753914c3e" /><Relationship Type="http://schemas.openxmlformats.org/officeDocument/2006/relationships/slideLayout" Target="/ppt/slideLayouts/slideLayout5.xml" Id="R1ef73048cc0d411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6">
            <a:extLst xmlns:a="http://schemas.openxmlformats.org/drawingml/2006/main">
              <a:ext uri="{FF2B5EF4-FFF2-40B4-BE49-F238E27FC236}">
                <a16:creationId xmlns:a16="http://schemas.microsoft.com/office/drawing/2014/main" id="{DDC80F01-8B12-450D-A9CA-81B3C6DBC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 cap="non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16">
            <a:extLst xmlns:a="http://schemas.openxmlformats.org/drawingml/2006/main">
              <a:ext uri="{FF2B5EF4-FFF2-40B4-BE49-F238E27FC236}">
                <a16:creationId xmlns:a16="http://schemas.microsoft.com/office/drawing/2014/main" id="{D493829B-CE07-4DDE-91E8-7B75A1DF97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marL="914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 xmlns:a="http://schemas.openxmlformats.org/drawingml/2006/main"/>
        </p:txBody>
      </p:sp>
      <p:sp>
        <p:nvSpPr>
          <p:cNvPr id="12" name="Google Shape;12;p16">
            <a:extLst xmlns:a="http://schemas.openxmlformats.org/drawingml/2006/main">
              <a:ext uri="{FF2B5EF4-FFF2-40B4-BE49-F238E27FC236}">
                <a16:creationId xmlns:a16="http://schemas.microsoft.com/office/drawing/2014/main" id="{34F99410-5B32-41FF-BD6A-D75CA08CAE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 xmlns:a="http://schemas.openxmlformats.org/drawingml/2006/main"/>
        </p:txBody>
      </p:sp>
      <p:sp>
        <p:nvSpPr>
          <p:cNvPr id="13" name="Google Shape;13;p16">
            <a:extLst xmlns:a="http://schemas.openxmlformats.org/drawingml/2006/main">
              <a:ext uri="{FF2B5EF4-FFF2-40B4-BE49-F238E27FC236}">
                <a16:creationId xmlns:a16="http://schemas.microsoft.com/office/drawing/2014/main" id="{5F80AB29-D3EA-4D8D-AB00-D2C7EB5408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 xmlns:a="http://schemas.openxmlformats.org/drawingml/2006/main"/>
        </p:txBody>
      </p:sp>
      <p:sp>
        <p:nvSpPr>
          <p:cNvPr id="14" name="Google Shape;14;p16">
            <a:extLst xmlns:a="http://schemas.openxmlformats.org/drawingml/2006/main">
              <a:ext uri="{FF2B5EF4-FFF2-40B4-BE49-F238E27FC236}">
                <a16:creationId xmlns:a16="http://schemas.microsoft.com/office/drawing/2014/main" id="{4276D9B8-4D40-469D-9967-0E2A11B64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c62b614ab84afb"/>
    <p:sldLayoutId xmlns:r="http://schemas.openxmlformats.org/officeDocument/2006/relationships" id="2147483650" r:id="Rf5ac6c2b4d844e3f"/>
    <p:sldLayoutId xmlns:r="http://schemas.openxmlformats.org/officeDocument/2006/relationships" id="2147483651" r:id="Rbfe2fbe5258a4fbe"/>
    <p:sldLayoutId xmlns:r="http://schemas.openxmlformats.org/officeDocument/2006/relationships" id="2147483652" r:id="R11cce6a753914c3e"/>
    <p:sldLayoutId xmlns:r="http://schemas.openxmlformats.org/officeDocument/2006/relationships" id="2147483653" r:id="R1ef73048cc0d411b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20b25bad0cb46f0" /><Relationship Type="http://schemas.openxmlformats.org/officeDocument/2006/relationships/image" Target="/ppt/media/image2.png" Id="R2d9e49327b354d19" /><Relationship Type="http://schemas.openxmlformats.org/officeDocument/2006/relationships/notesSlide" Target="/ppt/notesSlides/notesSlide1.xml" Id="R5b6eda878124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beea1c40e4aea" /><Relationship Type="http://schemas.openxmlformats.org/officeDocument/2006/relationships/notesSlide" Target="/ppt/notesSlides/notesSlide2.xml" Id="R697a29d37b3c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8677d4a269493a" /><Relationship Type="http://schemas.openxmlformats.org/officeDocument/2006/relationships/notesSlide" Target="/ppt/notesSlides/notesSlide3.xml" Id="Rfa28c6a1537f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399f53cdf4ede" /><Relationship Type="http://schemas.openxmlformats.org/officeDocument/2006/relationships/notesSlide" Target="/ppt/notesSlides/notesSlide4.xml" Id="Rf07d3ca3c96046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8e1f33c224c15" /><Relationship Type="http://schemas.openxmlformats.org/officeDocument/2006/relationships/notesSlide" Target="/ppt/notesSlides/notesSlide5.xml" Id="R5ebc3f004609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5c85a1f9f849d3" /><Relationship Type="http://schemas.openxmlformats.org/officeDocument/2006/relationships/notesSlide" Target="/ppt/notesSlides/notesSlide6.xml" Id="Rcd225d0d68584b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d68f41e0774778" /><Relationship Type="http://schemas.openxmlformats.org/officeDocument/2006/relationships/notesSlide" Target="/ppt/notesSlides/notesSlide7.xml" Id="Re2c48416e4e247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0b321f39144f8b" /><Relationship Type="http://schemas.openxmlformats.org/officeDocument/2006/relationships/image" Target="/ppt/media/image3.png" Id="Rb00e55fbab2f4c09" /><Relationship Type="http://schemas.openxmlformats.org/officeDocument/2006/relationships/notesSlide" Target="/ppt/notesSlides/notesSlide8.xml" Id="R4cb0dd1a55af4e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556799be6c4ccd" /><Relationship Type="http://schemas.openxmlformats.org/officeDocument/2006/relationships/image" Target="/ppt/media/image4.png" Id="Rdca792453830402d" /><Relationship Type="http://schemas.openxmlformats.org/officeDocument/2006/relationships/notesSlide" Target="/ppt/notesSlides/notesSlide9.xml" Id="Rc4e9515c12ae48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9201e642d14d02" /><Relationship Type="http://schemas.openxmlformats.org/officeDocument/2006/relationships/image" Target="/ppt/media/image5.png" Id="Ra11ad3e47aaf4d19" /><Relationship Type="http://schemas.openxmlformats.org/officeDocument/2006/relationships/notesSlide" Target="/ppt/notesSlides/notesSlide10.xml" Id="Rb47b4d099b3e43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ef35e5a18e4e31" /><Relationship Type="http://schemas.openxmlformats.org/officeDocument/2006/relationships/image" Target="/ppt/media/image6.png" Id="Rff3d687dca0545a4" /><Relationship Type="http://schemas.openxmlformats.org/officeDocument/2006/relationships/notesSlide" Target="/ppt/notesSlides/notesSlide11.xml" Id="Rb36ebb8d30814e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b402172c674c3c" /><Relationship Type="http://schemas.openxmlformats.org/officeDocument/2006/relationships/notesSlide" Target="/ppt/notesSlides/notesSlide12.xml" Id="Rdc7620b3c47c4f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f70c186fa5e4a4e" /><Relationship Type="http://schemas.openxmlformats.org/officeDocument/2006/relationships/image" Target="/ppt/media/image5.jpeg" Id="Rfafa8efb86ad4cc6" /><Relationship Type="http://schemas.openxmlformats.org/officeDocument/2006/relationships/notesSlide" Target="/ppt/notesSlides/notesSlide13.xml" Id="R3a0823e9d81b48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bf6b2776f4c87" /><Relationship Type="http://schemas.openxmlformats.org/officeDocument/2006/relationships/image" Target="/ppt/media/image7.png" Id="R5185341413dc4822" /><Relationship Type="http://schemas.openxmlformats.org/officeDocument/2006/relationships/image" Target="/ppt/media/image8.png" Id="R2bff5e9d6d6a480b" /><Relationship Type="http://schemas.openxmlformats.org/officeDocument/2006/relationships/notesSlide" Target="/ppt/notesSlides/notesSlide14.xml" Id="Rd1ca1ee02d91474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d9e49327b354d1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g3b30fa2c26e_0_0">
            <a:extLst xmlns:a="http://schemas.openxmlformats.org/drawingml/2006/main">
              <a:ext uri="{FF2B5EF4-FFF2-40B4-BE49-F238E27FC236}">
                <a16:creationId xmlns:a16="http://schemas.microsoft.com/office/drawing/2014/main" id="{8BDFD7D8-24EE-401C-AC72-9A0DCDF450E8}"/>
              </a:ext>
            </a:extLst>
          </p:cNvPr>
          <p:cNvSpPr>
            <a:spLocks xmlns:a="http://schemas.openxmlformats.org/drawingml/2006/main" noGrp="1"/>
          </p:cNvSpPr>
          <p:nvPr>
            <p:ph type="ctrTitle" idx="4294967295"/>
          </p:nvPr>
        </p:nvSpPr>
        <p:spPr>
          <a:xfrm xmlns:a="http://schemas.openxmlformats.org/drawingml/2006/main">
            <a:off x="1524000" y="2490281"/>
            <a:ext cx="9144000" cy="147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FFFFFF"/>
                </a:solidFill>
              </a:defRPr>
            </a:pPr>
            <a:r>
              <a:rPr sz="3600" b="0">
                <a:solidFill>
                  <a:srgbClr val="FFFFFF"/>
                </a:solidFill>
              </a:rPr>
              <a:t>From LDA to BERTopic</a:t>
            </a:r>
          </a:p>
        </p:txBody>
      </p:sp>
      <p:sp>
        <p:nvSpPr>
          <p:cNvPr id="42" name="Google Shape;42;g3b30fa2c26e_0_0">
            <a:extLst xmlns:a="http://schemas.openxmlformats.org/drawingml/2006/main">
              <a:ext uri="{FF2B5EF4-FFF2-40B4-BE49-F238E27FC236}">
                <a16:creationId xmlns:a16="http://schemas.microsoft.com/office/drawing/2014/main" id="{4EFC56F4-6488-440C-BE53-5E1C66D84414}"/>
              </a:ext>
            </a:extLst>
          </p:cNvPr>
          <p:cNvSpPr>
            <a:spLocks xmlns:a="http://schemas.openxmlformats.org/drawingml/2006/main" noGrp="1"/>
          </p:cNvSpPr>
          <p:nvPr>
            <p:ph type="subTitle" idx="4294967295"/>
          </p:nvPr>
        </p:nvSpPr>
        <p:spPr>
          <a:xfrm xmlns:a="http://schemas.openxmlformats.org/drawingml/2006/main">
            <a:off x="6936099" y="4383000"/>
            <a:ext cx="5140500" cy="227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Student: [Your Name], Group [Your Group]</a:t>
            </a:r>
          </a:p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Project topic:</a:t>
            </a:r>
          </a:p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Improving Topic Modeling on the 20 Newsgroups Dataset</a:t>
            </a:r>
          </a:p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Scientific Advisor:</a:t>
            </a:r>
          </a:p>
          <a:p xmlns:a="http://schemas.openxmlformats.org/drawingml/2006/main">
            <a:pPr marL="0" indent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[Advisor Name]</a:t>
            </a:r>
          </a:p>
        </p:txBody>
      </p:sp>
      <p:sp>
        <p:nvSpPr>
          <p:cNvPr id="43" name="Google Shape;43;g3b30fa2c26e_0_0">
            <a:extLst xmlns:a="http://schemas.openxmlformats.org/drawingml/2006/main">
              <a:ext uri="{FF2B5EF4-FFF2-40B4-BE49-F238E27FC236}">
                <a16:creationId xmlns:a16="http://schemas.microsoft.com/office/drawing/2014/main" id="{C2F1E1F5-7257-4BA4-9A21-D407359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625" y="1084500"/>
            <a:ext cx="9441300" cy="5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2"/>
                </a:solidFill>
                <a:latin typeface="Golos Text"/>
                <a:ea typeface="Golos Text"/>
                <a:cs typeface="Golos Text"/>
              </a:rPr>
              <a:t>01.04.02 Applied Mathematics and Computer Science</a:t>
            </a:r>
          </a:p>
        </p:txBody>
      </p:sp>
      <p:sp>
        <p:nvSpPr>
          <p:cNvPr id="44" name="Google Shape;33;g3b30fa2c26e_0_34">
            <a:extLst xmlns:a="http://schemas.openxmlformats.org/drawingml/2006/main">
              <a:ext uri="{FF2B5EF4-FFF2-40B4-BE49-F238E27FC236}">
                <a16:creationId xmlns:a16="http://schemas.microsoft.com/office/drawing/2014/main" id="{402446C0-3B82-4BF4-8BD8-3E998473AD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t">
            <a:normAutofit/>
          </a:bodyPr>
          <a:lstStyle xmlns:a="http://schemas.openxmlformats.org/drawingml/2006/main">
            <a:lvl1pPr marL="457200" indent="-228600" algn="l">
              <a:spcBef>
                <a:spcPts val="500"/>
              </a:spcBef>
              <a:spcAft>
                <a:spcPts val="0"/>
              </a:spcAft>
              <a:buNone/>
              <a:defRPr sz="2700"/>
            </a:lvl1pPr>
            <a:lvl2pPr marL="914400" indent="-228600" algn="l">
              <a:spcBef>
                <a:spcPts val="600"/>
              </a:spcBef>
              <a:spcAft>
                <a:spcPts val="0"/>
              </a:spcAft>
              <a:buNone/>
              <a:defRPr sz="3200"/>
            </a:lvl2pPr>
            <a:lvl3pPr marL="1371600" indent="-228600" algn="l">
              <a:spcBef>
                <a:spcPts val="500"/>
              </a:spcBef>
              <a:spcAft>
                <a:spcPts val="0"/>
              </a:spcAft>
              <a:buNone/>
              <a:defRPr sz="2700"/>
            </a:lvl3pPr>
            <a:lvl4pPr marL="1828800" indent="-228600" algn="l">
              <a:spcBef>
                <a:spcPts val="500"/>
              </a:spcBef>
              <a:spcAft>
                <a:spcPts val="0"/>
              </a:spcAft>
              <a:buNone/>
              <a:defRPr sz="2400"/>
            </a:lvl4pPr>
            <a:lvl5pPr marL="2286000" indent="-228600" algn="l">
              <a:spcBef>
                <a:spcPts val="500"/>
              </a:spcBef>
              <a:spcAft>
                <a:spcPts val="0"/>
              </a:spcAft>
              <a:buNone/>
              <a:defRPr sz="2400"/>
            </a:lvl5pPr>
            <a:lvl6pPr marL="27432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6pPr>
            <a:lvl7pPr marL="32004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7pPr>
            <a:lvl8pPr marL="36576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8pPr>
            <a:lvl9pPr marL="4114800" indent="-381000" algn="l">
              <a:spcBef>
                <a:spcPts val="500"/>
              </a:spcBef>
              <a:spcAft>
                <a:spcPts val="0"/>
              </a:spcAft>
              <a:buChar char="•"/>
              <a:defRPr sz="2400"/>
            </a:lvl9pPr>
          </a:lstStyle>
          <a:p xmlns:a="http://schemas.openxmlformats.org/drawingml/2006/main"/>
        </p:txBody>
      </p:sp>
      <p:sp>
        <p:nvSpPr>
          <p:cNvPr id="45" name="Google Shape;14;p16">
            <a:extLst xmlns:a="http://schemas.openxmlformats.org/drawingml/2006/main">
              <a:ext uri="{FF2B5EF4-FFF2-40B4-BE49-F238E27FC236}">
                <a16:creationId xmlns:a16="http://schemas.microsoft.com/office/drawing/2014/main" id="{4276D9B8-4D40-469D-9967-0E2A11B64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fld id="{B0A2AFC4-3833-13C1-E2BC-5608F810A1BF}" type="slidenum">
              <a:rPr sz="1200">
                <a:solidFill>
                  <a:srgbClr val="FFFFFF"/>
                </a:solidFill>
              </a:rPr>
              <a:t>01</a:t>
            </a:fld>
          </a:p>
        </p:txBody>
      </p:sp>
    </p:spTree>
    <p:extLst>
      <p:ext uri="{BB962C8B-B14F-4D97-AF65-F5344CB8AC3E}">
        <p14:creationId xmlns:p14="http://schemas.microsoft.com/office/powerpoint/2010/main" val="10037255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2">
            <a:extLst xmlns:a="http://schemas.openxmlformats.org/drawingml/2006/main">
              <a:ext uri="{FF2B5EF4-FFF2-40B4-BE49-F238E27FC236}">
                <a16:creationId xmlns:a16="http://schemas.microsoft.com/office/drawing/2014/main" id="{ADF51525-9F94-485A-9038-0E5527C44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Statement of the Problem</a:t>
            </a:r>
          </a:p>
        </p:txBody>
      </p:sp>
      <p:sp>
        <p:nvSpPr>
          <p:cNvPr id="49" name="Google Shape;49;p2">
            <a:extLst xmlns:a="http://schemas.openxmlformats.org/drawingml/2006/main">
              <a:ext uri="{FF2B5EF4-FFF2-40B4-BE49-F238E27FC236}">
                <a16:creationId xmlns:a16="http://schemas.microsoft.com/office/drawing/2014/main" id="{72BCCF2F-FB47-4FAE-AB74-C0ECB68ACF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CBAEABBA-AD62-52D1-5588-17C604158753}" type="slidenum">
              <a:rPr sz="1200">
                <a:solidFill>
                  <a:srgbClr val="111111"/>
                </a:solidFill>
              </a:rPr>
              <a:t>02</a:t>
            </a:fld>
          </a:p>
        </p:txBody>
      </p:sp>
      <p:sp>
        <p:nvSpPr>
          <p:cNvPr id="50" name="Google Shape;50;p2">
            <a:extLst xmlns:a="http://schemas.openxmlformats.org/drawingml/2006/main">
              <a:ext uri="{FF2B5EF4-FFF2-40B4-BE49-F238E27FC236}">
                <a16:creationId xmlns:a16="http://schemas.microsoft.com/office/drawing/2014/main" id="{CEB9F65A-99E7-4067-88DE-7F9C8A09E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428750"/>
            <a:ext cx="1028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Large text collections are difficult to explore manually.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Traditional LDA can discover latent topics, but it relies on bag-of-words features and may miss semantic similarity.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The project asks whether a transformer-based topic model can improve topic discovery and category alignment on the 20 Newsgroups dataset.</a:t>
            </a:r>
          </a:p>
        </p:txBody>
      </p:sp>
    </p:spTree>
    <p:extLst>
      <p:ext uri="{BB962C8B-B14F-4D97-AF65-F5344CB8AC3E}">
        <p14:creationId xmlns:p14="http://schemas.microsoft.com/office/powerpoint/2010/main" val="11671424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3">
            <a:extLst xmlns:a="http://schemas.openxmlformats.org/drawingml/2006/main">
              <a:ext uri="{FF2B5EF4-FFF2-40B4-BE49-F238E27FC236}">
                <a16:creationId xmlns:a16="http://schemas.microsoft.com/office/drawing/2014/main" id="{DB37F217-CD94-4CA1-BEBF-23D9D7C6B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957" y="572326"/>
            <a:ext cx="9218700" cy="65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Purpose and Objectives</a:t>
            </a:r>
          </a:p>
        </p:txBody>
      </p:sp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2F7A4B3B-71EF-42A7-B3CE-5CB919B736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0BADEEDC-EEE1-8597-0639-A35D9BA153EC}" type="slidenum">
              <a:rPr sz="1200">
                <a:solidFill>
                  <a:srgbClr val="111111"/>
                </a:solidFill>
              </a:rPr>
              <a:t>03</a:t>
            </a:fld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3641F307-F0BE-4038-88AD-8A7D259C62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476375"/>
            <a:ext cx="10572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Purpose: compare traditional LDA and transformer-based BERTopic for topic discovery on 20 Newsgroups.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/>
              <a:t/>
            </a:r>
          </a:p>
          <a:p xmlns:a="http://schemas.openxmlformats.org/drawingml/2006/main">
            <a:pPr marL="45720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AutoNum type="arabicPeriod"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Objectives:</a:t>
            </a:r>
          </a:p>
          <a:p xmlns:a="http://schemas.openxmlformats.org/drawingml/2006/main">
            <a:pPr marL="45720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AutoNum type="arabicPeriod"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1. Rebuild the LDA baseline from the previous project.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2. Add ground-truth category evaluation.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3. Train and analyze BERTopic.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4. Compare topic quality using heatmaps and metrics.</a:t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5. Summarize strengths, weaknesses, and future work.</a:t>
            </a:r>
          </a:p>
        </p:txBody>
      </p:sp>
    </p:spTree>
    <p:extLst>
      <p:ext uri="{BB962C8B-B14F-4D97-AF65-F5344CB8AC3E}">
        <p14:creationId xmlns:p14="http://schemas.microsoft.com/office/powerpoint/2010/main" val="21298746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4">
            <a:extLst xmlns:a="http://schemas.openxmlformats.org/drawingml/2006/main">
              <a:ext uri="{FF2B5EF4-FFF2-40B4-BE49-F238E27FC236}">
                <a16:creationId xmlns:a16="http://schemas.microsoft.com/office/drawing/2014/main" id="{82C75F55-5D85-4F5E-98BB-732811979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Review of Similar Solutions / Research</a:t>
            </a:r>
          </a:p>
        </p:txBody>
      </p:sp>
      <p:sp>
        <p:nvSpPr>
          <p:cNvPr id="63" name="Google Shape;63;p4">
            <a:extLst xmlns:a="http://schemas.openxmlformats.org/drawingml/2006/main">
              <a:ext uri="{FF2B5EF4-FFF2-40B4-BE49-F238E27FC236}">
                <a16:creationId xmlns:a16="http://schemas.microsoft.com/office/drawing/2014/main" id="{DC1D19A5-DF9E-4606-9803-537515121E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F9970F6C-59B2-055B-5132-2DC31A7003A7}" type="slidenum">
              <a:rPr sz="1200">
                <a:solidFill>
                  <a:srgbClr val="111111"/>
                </a:solidFill>
              </a:rPr>
              <a:t>04</a:t>
            </a:fld>
          </a:p>
        </p:txBody>
      </p:sp>
      <p:sp>
        <p:nvSpPr>
          <p:cNvPr id="64" name="Google Shape;64;p4">
            <a:extLst xmlns:a="http://schemas.openxmlformats.org/drawingml/2006/main">
              <a:ext uri="{FF2B5EF4-FFF2-40B4-BE49-F238E27FC236}">
                <a16:creationId xmlns:a16="http://schemas.microsoft.com/office/drawing/2014/main" id="{76342A82-160A-428C-9972-8B279E1CC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257300"/>
            <a:ext cx="1057275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Latent Dirichlet Allocation (LDA): probabilistic bag-of-words topic model; interpretable, but sensitive to preprocessing.</a:t>
            </a:r>
          </a:p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sz="6215"/>
              <a:t/>
            </a:r>
          </a:p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Transformer embeddings: capture semantic similarity beyond exact word overlap.</a:t>
            </a:r>
          </a:p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sz="6215" b="1"/>
              <a:t/>
            </a:r>
          </a:p>
          <a:p xmlns:a="http://schemas.openxmlformats.org/drawingml/2006/main">
            <a:pPr marL="0" indent="0" algn="l"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BERTopic: combines sentence embeddings, UMAP dimensionality reduction, HDBSCAN clustering, and c-TF-IDF topic representations.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6215" b="1"/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Gap addressed: compare the older LDA baseline with an embedding-based topic model using the same dataset and label-based evaluation.</a:t>
            </a:r>
          </a:p>
        </p:txBody>
      </p:sp>
    </p:spTree>
    <p:extLst>
      <p:ext uri="{BB962C8B-B14F-4D97-AF65-F5344CB8AC3E}">
        <p14:creationId xmlns:p14="http://schemas.microsoft.com/office/powerpoint/2010/main" val="7116454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594DFC4E-CE85-474C-8AFA-05586A46D1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Research Methods and Tools</a:t>
            </a:r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6F60F1F4-D354-472B-9BD1-BDC25921E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5370F4AC-E6D1-01EE-6732-05F7C8E78B55}" type="slidenum">
              <a:rPr sz="1200">
                <a:solidFill>
                  <a:srgbClr val="111111"/>
                </a:solidFill>
              </a:rPr>
              <a:t>05</a:t>
            </a:fld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CC0F419B-27D8-4A85-AAA4-EFE0DBDE6D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381125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Dataset: 20 Newsgroups, loaded with scikit-learn.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LDA pipeline: text cleaning, stopword removal, lemmatization, bigrams, dictionary filtering, coherence-based topic selection.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BERTopic pipeline: all-MiniLM-L6-v2 embeddings, UMAP, HDBSCAN, CountVectorizer with English stopword filtering.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Evaluation: topic-category heatmaps, NMI, ARI, purity, and qualitative keyword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2447377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C9B15F45-915E-4AB2-9E92-8995982D8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907" y="448001"/>
            <a:ext cx="9218700" cy="65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Scientific Novelty</a:t>
            </a:r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444B0591-D5B6-47ED-8432-734B70AD26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39BFB0FA-5DC7-50DB-D53A-0B6D0E34987E}" type="slidenum">
              <a:rPr sz="1200">
                <a:solidFill>
                  <a:srgbClr val="111111"/>
                </a:solidFill>
              </a:rPr>
              <a:t>06</a:t>
            </a:fld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6C15EFD2-5653-4231-8153-668C507FC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524000"/>
            <a:ext cx="10572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The previous project used LDA as a single topic modeling method.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sz="2364"/>
              <a:t/>
            </a:r>
          </a:p>
          <a:p xmlns:a="http://schemas.openxmlformats.org/drawingml/2006/main">
            <a:pPr marL="457200" indent="-34495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har char="●"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This extension adds:</a:t>
            </a:r>
          </a:p>
          <a:p xmlns:a="http://schemas.openxmlformats.org/drawingml/2006/main">
            <a:pPr marL="457200" indent="-34495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a transformer-based BERTopic model;</a:t>
            </a:r>
          </a:p>
          <a:p xmlns:a="http://schemas.openxmlformats.org/drawingml/2006/main">
            <a:pPr marL="457200" indent="-34495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ground-truth category alignment analysis;</a:t>
            </a:r>
          </a:p>
          <a:p xmlns:a="http://schemas.openxmlformats.org/drawingml/2006/main">
            <a:pPr marL="457200" indent="-34495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quantitative comparison using NMI, ARI, and purity;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improved BERTopic keyword extraction with stopword filtering;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- a clearer discussion of interpretability vs. semantic clustering quality.</a:t>
            </a:r>
          </a:p>
        </p:txBody>
      </p:sp>
    </p:spTree>
    <p:extLst>
      <p:ext uri="{BB962C8B-B14F-4D97-AF65-F5344CB8AC3E}">
        <p14:creationId xmlns:p14="http://schemas.microsoft.com/office/powerpoint/2010/main" val="11840974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9">
            <a:extLst xmlns:a="http://schemas.openxmlformats.org/drawingml/2006/main">
              <a:ext uri="{FF2B5EF4-FFF2-40B4-BE49-F238E27FC236}">
                <a16:creationId xmlns:a16="http://schemas.microsoft.com/office/drawing/2014/main" id="{4B55C0A8-D431-43D1-9A5B-295B1AB3D9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Solution Flow</a:t>
            </a:r>
          </a:p>
        </p:txBody>
      </p:sp>
      <p:sp>
        <p:nvSpPr>
          <p:cNvPr id="84" name="Google Shape;84;p9">
            <a:extLst xmlns:a="http://schemas.openxmlformats.org/drawingml/2006/main">
              <a:ext uri="{FF2B5EF4-FFF2-40B4-BE49-F238E27FC236}">
                <a16:creationId xmlns:a16="http://schemas.microsoft.com/office/drawing/2014/main" id="{5C0D8755-BE42-45FE-BC22-BE5D3DDF88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C1C5B3A8-B30B-D205-8921-516C108AB9AB}" type="slidenum">
              <a:rPr sz="1200">
                <a:solidFill>
                  <a:srgbClr val="111111"/>
                </a:solidFill>
              </a:rPr>
              <a:t>07</a:t>
            </a:fld>
          </a:p>
        </p:txBody>
      </p:sp>
      <p:sp>
        <p:nvSpPr>
          <p:cNvPr id="85" name="Google Shape;85;p9">
            <a:extLst xmlns:a="http://schemas.openxmlformats.org/drawingml/2006/main">
              <a:ext uri="{FF2B5EF4-FFF2-40B4-BE49-F238E27FC236}">
                <a16:creationId xmlns:a16="http://schemas.microsoft.com/office/drawing/2014/main" id="{C048F099-B3E1-4B50-BA39-FA3DAFFB8F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238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workflow extends the previous LDA project into a reproducible comparative experiment.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2D81DA8-2935-4BDA-8877-21917DB6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827">
              <a:alpha val="8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Dataset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20 Newsgroups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18k+ posts, 20 classes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82B2BDD-2AA2-4108-95D8-AA411BCC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2381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9BB7AD9-5506-4EFA-9CC9-5CACF2E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827">
              <a:alpha val="8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LDA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cleaning, lemmatization,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bigrams, coherence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F0A74A-ED41-409C-9A70-9F62AA7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43200"/>
            <a:ext cx="2381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259E16E-E567-45A6-9322-1878005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8B5CF6">
              <a:alpha val="70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BERTopic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sentence embeddings,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UMAP + HDBSCAN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01EDDB5-AA91-455E-97C0-59ED3D9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3812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4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A2B025C-DFEA-475B-9A07-1C4D01C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23336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11827">
              <a:alpha val="82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Evaluation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NMI, ARI, purity,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category heatmaps</a:t>
            </a:r>
          </a:p>
        </p:txBody>
      </p:sp>
    </p:spTree>
    <p:extLst>
      <p:ext uri="{BB962C8B-B14F-4D97-AF65-F5344CB8AC3E}">
        <p14:creationId xmlns:p14="http://schemas.microsoft.com/office/powerpoint/2010/main" val="10115855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10">
            <a:extLst xmlns:a="http://schemas.openxmlformats.org/drawingml/2006/main">
              <a:ext uri="{FF2B5EF4-FFF2-40B4-BE49-F238E27FC236}">
                <a16:creationId xmlns:a16="http://schemas.microsoft.com/office/drawing/2014/main" id="{41A7F524-237F-4091-BF32-8F4B26F02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375" y="501200"/>
            <a:ext cx="9844800" cy="65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LDA Baseline: Topic Number Selection</a:t>
            </a:r>
          </a:p>
        </p:txBody>
      </p:sp>
      <p:sp>
        <p:nvSpPr>
          <p:cNvPr id="91" name="Google Shape;91;p10">
            <a:extLst xmlns:a="http://schemas.openxmlformats.org/drawingml/2006/main">
              <a:ext uri="{FF2B5EF4-FFF2-40B4-BE49-F238E27FC236}">
                <a16:creationId xmlns:a16="http://schemas.microsoft.com/office/drawing/2014/main" id="{F28C5219-C113-4EB4-82BA-6A9B1DDE06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22E54B70-3376-18BE-56BD-5BB8BA701776}" type="slidenum">
              <a:rPr sz="1200">
                <a:solidFill>
                  <a:srgbClr val="111111"/>
                </a:solidFill>
              </a:rPr>
              <a:t>08</a:t>
            </a:fld>
          </a:p>
        </p:txBody>
      </p:sp>
      <p:sp>
        <p:nvSpPr>
          <p:cNvPr id="92" name="Google Shape;92;p10">
            <a:extLst xmlns:a="http://schemas.openxmlformats.org/drawingml/2006/main">
              <a:ext uri="{FF2B5EF4-FFF2-40B4-BE49-F238E27FC236}">
                <a16:creationId xmlns:a16="http://schemas.microsoft.com/office/drawing/2014/main" id="{6CF867FA-07DF-421B-8CB0-264594964B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428750"/>
            <a:ext cx="381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96454"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The coherence curve selected 11 topics as the final LDA configuration.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765" b="1"/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Final LDA coherence: 0.5089.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4C38DC-B622-4D33-9D7B-D202A84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51515">
              <a:alpha val="88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Highest coherence at K = 11</a:t>
            </a:r>
          </a:p>
        </p:txBody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e55fbab2f4c09"/>
          <a:stretch xmlns:a="http://schemas.openxmlformats.org/drawingml/2006/main"/>
        </p:blipFill>
        <p:spPr>
          <a:xfrm xmlns:a="http://schemas.openxmlformats.org/drawingml/2006/main">
            <a:off x="5179462" y="1190625"/>
            <a:ext cx="5357327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</p:spTree>
    <p:extLst>
      <p:ext uri="{BB962C8B-B14F-4D97-AF65-F5344CB8AC3E}">
        <p14:creationId xmlns:p14="http://schemas.microsoft.com/office/powerpoint/2010/main" val="21375608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Google Shape;97;p11">
            <a:extLst xmlns:a="http://schemas.openxmlformats.org/drawingml/2006/main">
              <a:ext uri="{FF2B5EF4-FFF2-40B4-BE49-F238E27FC236}">
                <a16:creationId xmlns:a16="http://schemas.microsoft.com/office/drawing/2014/main" id="{FC3F47A2-7981-43BF-BCB1-92B4F99D98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LDA Results: Topic-Category Alignment</a:t>
            </a:r>
          </a:p>
        </p:txBody>
      </p:sp>
      <p:sp>
        <p:nvSpPr>
          <p:cNvPr id="98" name="Google Shape;98;p11">
            <a:extLst xmlns:a="http://schemas.openxmlformats.org/drawingml/2006/main">
              <a:ext uri="{FF2B5EF4-FFF2-40B4-BE49-F238E27FC236}">
                <a16:creationId xmlns:a16="http://schemas.microsoft.com/office/drawing/2014/main" id="{2E248370-EA6F-470E-B084-589D4735DB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44235D47-801C-AA1F-E2A0-5E98061CBF6D}" type="slidenum">
              <a:rPr sz="1200">
                <a:solidFill>
                  <a:srgbClr val="111111"/>
                </a:solidFill>
              </a:rPr>
              <a:t>09</a:t>
            </a:fld>
          </a:p>
        </p:txBody>
      </p:sp>
      <p:sp>
        <p:nvSpPr>
          <p:cNvPr id="99" name="Google Shape;99;p11">
            <a:extLst xmlns:a="http://schemas.openxmlformats.org/drawingml/2006/main">
              <a:ext uri="{FF2B5EF4-FFF2-40B4-BE49-F238E27FC236}">
                <a16:creationId xmlns:a16="http://schemas.microsoft.com/office/drawing/2014/main" id="{D343C742-81A3-427B-9E5B-6FA6AA1A9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238250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LDA finds interpretable themes such as space, sports, politics, hardware, and graphics.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However, several topics mix related categories, which limits label alignment.</a:t>
            </a:r>
          </a:p>
        </p:txBody>
      </p:sp>
      <p:graphicFrame>
        <p:nvGraphicFramePr>
          <p:cNvPr id="106" name="Google Shape;100;p11"/>
          <p:cNvGraphicFramePr/>
          <p:nvPr/>
        </p:nvGraphicFramePr>
        <p:xfrm>
          <a:off xmlns:a="http://schemas.openxmlformats.org/drawingml/2006/main" x="579550" y="545545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{3C6B21E1-70BE-4170-ADDC-B6ECAF09B133}</a:tableStyleId>
              </a:tblPr>
              <a:tblGrid>
                <a:gridCol w="10214475"/>
              </a:tblGrid>
              <a:tr h="10695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800"/>
                        <a:t>Model                                  Accuracy                             F1-score                                  Training Time</a:t>
                      </a:r>
                    </a:p>
                    <a:p>
                      <a:pPr marL="0" indent="0" algn="l">
                        <a:buNone/>
                      </a:pPr>
                      <a:r>
                        <a:rPr sz="1800"/>
                        <a:t>ResNet50                            91%                                    0.88                                          2 h</a:t>
                      </a:r>
                    </a:p>
                    <a:p>
                      <a:pPr marL="0" indent="0" algn="l">
                        <a:buNone/>
                      </a:pPr>
                      <a:r>
                        <a:rPr sz="1800"/>
                        <a:t>EfficientNetB0                    </a:t>
                      </a:r>
                      <a:r>
                        <a:rPr sz="1800" b="1"/>
                        <a:t> 92</a:t>
                      </a:r>
                      <a:r>
                        <a:rPr sz="1800" b="1"/>
                        <a:t>%                                    0.89</a:t>
                      </a:r>
                      <a:r>
                        <a:rPr sz="1800"/>
                        <a:t>                                          1.5 h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7913605-1D79-43DE-A705-1DA57B38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14950"/>
            <a:ext cx="1085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792453830402d"/>
          <a:stretch xmlns:a="http://schemas.openxmlformats.org/drawingml/2006/main"/>
        </p:blipFill>
        <p:spPr>
          <a:xfrm xmlns:a="http://schemas.openxmlformats.org/drawingml/2006/main">
            <a:off x="4191000" y="1521347"/>
            <a:ext cx="7239000" cy="3529555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14151040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g3a30ea3ceee_0_18">
            <a:extLst xmlns:a="http://schemas.openxmlformats.org/drawingml/2006/main">
              <a:ext uri="{FF2B5EF4-FFF2-40B4-BE49-F238E27FC236}">
                <a16:creationId xmlns:a16="http://schemas.microsoft.com/office/drawing/2014/main" id="{CC56C08A-FCB0-4295-854E-3A0D8B194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700" cy="65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BERTopic Results: Cleaner Semantic Topics</a:t>
            </a:r>
          </a:p>
        </p:txBody>
      </p:sp>
      <p:sp>
        <p:nvSpPr>
          <p:cNvPr id="106" name="Google Shape;106;g3a30ea3ceee_0_18">
            <a:extLst xmlns:a="http://schemas.openxmlformats.org/drawingml/2006/main">
              <a:ext uri="{FF2B5EF4-FFF2-40B4-BE49-F238E27FC236}">
                <a16:creationId xmlns:a16="http://schemas.microsoft.com/office/drawing/2014/main" id="{B50F0F36-BB1D-437D-8A2B-B7554A4082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DB7BEEEC-A170-5376-2B6E-CB54687B0CB1}" type="slidenum">
              <a:rPr sz="1200">
                <a:solidFill>
                  <a:srgbClr val="111111"/>
                </a:solidFill>
              </a:rPr>
              <a:t>10</a:t>
            </a:fld>
          </a:p>
        </p:txBody>
      </p:sp>
      <p:sp>
        <p:nvSpPr>
          <p:cNvPr id="107" name="Google Shape;107;g3a30ea3ceee_0_18">
            <a:extLst xmlns:a="http://schemas.openxmlformats.org/drawingml/2006/main">
              <a:ext uri="{FF2B5EF4-FFF2-40B4-BE49-F238E27FC236}">
                <a16:creationId xmlns:a16="http://schemas.microsoft.com/office/drawing/2014/main" id="{9A3CD436-EF4A-4031-A614-ECA422F2BC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238250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After adding CountVectorizer stopword filtering, BERTopic keywords became more meaningful.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/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Examples: encryption, Middle East politics, gun control, computer hardware, atheism, and sports.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ad3e47aaf4d19"/>
          <a:stretch xmlns:a="http://schemas.openxmlformats.org/drawingml/2006/main"/>
        </p:blipFill>
        <p:spPr>
          <a:xfrm xmlns:a="http://schemas.openxmlformats.org/drawingml/2006/main">
            <a:off x="4737059" y="1047750"/>
            <a:ext cx="6051633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</p:spTree>
    <p:extLst>
      <p:ext uri="{BB962C8B-B14F-4D97-AF65-F5344CB8AC3E}">
        <p14:creationId xmlns:p14="http://schemas.microsoft.com/office/powerpoint/2010/main" val="17445894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E08F8C55-4DF0-40A0-9C5E-2A892439D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Key Results: Quantitative Comparison</a:t>
            </a:r>
          </a:p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61B2FE02-E420-46DC-88A9-B7D16C9CB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30394428-F1DC-E5F6-DB0C-7DE31F3D8A23}" type="slidenum">
              <a:rPr sz="1200">
                <a:solidFill>
                  <a:srgbClr val="111111"/>
                </a:solidFill>
              </a:rPr>
              <a:t>11</a:t>
            </a:fld>
          </a:p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71DB0E8B-F01D-4837-9C2E-13648D8DE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2192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BERTopic achieves substantially stronger alignment with the original newsgroup categories.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7239000" cy="2190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5476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Topics</a:t>
                      </a:r>
                    </a:p>
                  </a:txBody>
                  <a:tcPr marL="91440" marR="91440" marT="45720" marB="4572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NMI</a:t>
                      </a:r>
                    </a:p>
                  </a:txBody>
                  <a:tcPr marL="91440" marR="91440" marT="45720" marB="4572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ARI</a:t>
                      </a:r>
                    </a:p>
                  </a:txBody>
                  <a:tcPr marL="91440" marR="91440" marT="45720" marB="45720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Purity</a:t>
                      </a:r>
                    </a:p>
                  </a:txBody>
                  <a:tcPr marL="91440" marR="91440" marT="45720" marB="45720">
                    <a:solidFill>
                      <a:srgbClr val="6D28D9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LDA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0.2839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0.1437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0.2798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BERTopic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0.5843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0.4843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0.6313</a:t>
                      </a:r>
                    </a:p>
                  </a:txBody>
                  <a:tcPr marL="91440" marR="91440" marT="45720" marB="45720"/>
                </a:tc>
              </a:tr>
              <a:tr h="547688"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fine-grained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+106%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+237%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+126%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d687dca0545a4"/>
          <a:stretch xmlns:a="http://schemas.openxmlformats.org/drawingml/2006/main"/>
        </p:blipFill>
        <p:spPr>
          <a:xfrm xmlns:a="http://schemas.openxmlformats.org/drawingml/2006/main">
            <a:off x="8382000" y="2662722"/>
            <a:ext cx="2952750" cy="865806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</p:spTree>
    <p:extLst>
      <p:ext uri="{BB962C8B-B14F-4D97-AF65-F5344CB8AC3E}">
        <p14:creationId xmlns:p14="http://schemas.microsoft.com/office/powerpoint/2010/main" val="26014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14">
            <a:extLst xmlns:a="http://schemas.openxmlformats.org/drawingml/2006/main">
              <a:ext uri="{FF2B5EF4-FFF2-40B4-BE49-F238E27FC236}">
                <a16:creationId xmlns:a16="http://schemas.microsoft.com/office/drawing/2014/main" id="{C96E1F97-C431-4083-BDF9-65BAAD243B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579" cy="656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Conclusion</a:t>
            </a:r>
          </a:p>
        </p:txBody>
      </p:sp>
      <p:sp>
        <p:nvSpPr>
          <p:cNvPr id="120" name="Google Shape;120;p14">
            <a:extLst xmlns:a="http://schemas.openxmlformats.org/drawingml/2006/main">
              <a:ext uri="{FF2B5EF4-FFF2-40B4-BE49-F238E27FC236}">
                <a16:creationId xmlns:a16="http://schemas.microsoft.com/office/drawing/2014/main" id="{67B5F4F5-F186-45C2-A5F5-34045DD6D4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4DB16885-0D3F-A391-B669-3211DB3B26E8}" type="slidenum">
              <a:rPr sz="1200">
                <a:solidFill>
                  <a:srgbClr val="111111"/>
                </a:solidFill>
              </a:rPr>
              <a:t>12</a:t>
            </a:fld>
          </a:p>
        </p:txBody>
      </p:sp>
      <p:sp>
        <p:nvSpPr>
          <p:cNvPr id="121" name="Google Shape;121;p14">
            <a:extLst xmlns:a="http://schemas.openxmlformats.org/drawingml/2006/main">
              <a:ext uri="{FF2B5EF4-FFF2-40B4-BE49-F238E27FC236}">
                <a16:creationId xmlns:a16="http://schemas.microsoft.com/office/drawing/2014/main" id="{1FE49DE8-9EB4-4F45-B4D7-F392400606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381125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project successfully extends the previous LDA topic modeling work.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Main findings: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- LDA is compact, interpretable, and easy to reproduce.</a:t>
            </a:r>
          </a:p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- BERTopic produces more fine-grained semantic topics.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- BERTopic has much stronger category alignment based on NMI, ARI, and purity.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Future work: tune BERTopic topic reduction, evaluate topic coherence for BERTopic, and test the approach on another text corpus.</a:t>
            </a:r>
          </a:p>
        </p:txBody>
      </p:sp>
    </p:spTree>
    <p:extLst>
      <p:ext uri="{BB962C8B-B14F-4D97-AF65-F5344CB8AC3E}">
        <p14:creationId xmlns:p14="http://schemas.microsoft.com/office/powerpoint/2010/main" val="609616219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afa8efb86ad4cc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g3b30fa2c26e_0_41">
            <a:extLst xmlns:a="http://schemas.openxmlformats.org/drawingml/2006/main">
              <a:ext uri="{FF2B5EF4-FFF2-40B4-BE49-F238E27FC236}">
                <a16:creationId xmlns:a16="http://schemas.microsoft.com/office/drawing/2014/main" id="{FD902933-01A7-403F-9D6B-EF395BF70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051125"/>
            <a:ext cx="10972800" cy="16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60925" rIns="121900" bIns="609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THANK YOU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FOR YOUR TIME!</a:t>
            </a:r>
          </a:p>
        </p:txBody>
      </p:sp>
      <p:sp>
        <p:nvSpPr>
          <p:cNvPr id="127" name="Google Shape;14;p16">
            <a:extLst xmlns:a="http://schemas.openxmlformats.org/drawingml/2006/main">
              <a:ext uri="{FF2B5EF4-FFF2-40B4-BE49-F238E27FC236}">
                <a16:creationId xmlns:a16="http://schemas.microsoft.com/office/drawing/2014/main" id="{4276D9B8-4D40-469D-9967-0E2A11B642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</a:defRPr>
            </a:pPr>
            <a:fld id="{2DD23107-4986-8758-3A93-3D74F35908CC}" type="slidenum">
              <a:rPr sz="1200">
                <a:solidFill>
                  <a:srgbClr val="FFFFFF"/>
                </a:solidFill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116671174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g3b30fa2c26e_0_76">
            <a:extLst xmlns:a="http://schemas.openxmlformats.org/drawingml/2006/main">
              <a:ext uri="{FF2B5EF4-FFF2-40B4-BE49-F238E27FC236}">
                <a16:creationId xmlns:a16="http://schemas.microsoft.com/office/drawing/2014/main" id="{70D3B528-B824-40CA-9EE4-B5C396EA1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1532" y="365126"/>
            <a:ext cx="9218700" cy="65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50" b="0">
                <a:solidFill>
                  <a:srgbClr val="111111"/>
                </a:solidFill>
              </a:defRPr>
            </a:pPr>
            <a:r>
              <a:rPr sz="2550" b="0">
                <a:solidFill>
                  <a:srgbClr val="111111"/>
                </a:solidFill>
              </a:rPr>
              <a:t>Appendix: BERTopic Visualizations</a:t>
            </a:r>
          </a:p>
        </p:txBody>
      </p:sp>
      <p:sp>
        <p:nvSpPr>
          <p:cNvPr id="132" name="Google Shape;132;g3b30fa2c26e_0_76">
            <a:extLst xmlns:a="http://schemas.openxmlformats.org/drawingml/2006/main">
              <a:ext uri="{FF2B5EF4-FFF2-40B4-BE49-F238E27FC236}">
                <a16:creationId xmlns:a16="http://schemas.microsoft.com/office/drawing/2014/main" id="{DE3C40EF-50BE-475A-9ABD-7B0D8E550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027269" y="635081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11111"/>
                </a:solidFill>
              </a:defRPr>
            </a:pPr>
            <a:fld id="{327921A4-25C4-3DB4-06B1-32693CEE2241}" type="slidenum">
              <a:rPr sz="1200">
                <a:solidFill>
                  <a:srgbClr val="111111"/>
                </a:solidFill>
              </a:rPr>
              <a:t>14</a:t>
            </a:fld>
          </a:p>
        </p:txBody>
      </p:sp>
      <p:sp>
        <p:nvSpPr>
          <p:cNvPr id="133" name="Google Shape;133;g3b30fa2c26e_0_76">
            <a:extLst xmlns:a="http://schemas.openxmlformats.org/drawingml/2006/main">
              <a:ext uri="{FF2B5EF4-FFF2-40B4-BE49-F238E27FC236}">
                <a16:creationId xmlns:a16="http://schemas.microsoft.com/office/drawing/2014/main" id="{5ADAACCD-BDE9-4FEA-8CC6-3809FDD748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2450" y="1190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Intertopic distance map and topic-category overview provide additional visual evidence for semantic clustering.</a:t>
            </a:r>
          </a:p>
        </p:txBody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5341413dc4822"/>
          <a:stretch xmlns:a="http://schemas.openxmlformats.org/drawingml/2006/main"/>
        </p:blipFill>
        <p:spPr>
          <a:xfrm xmlns:a="http://schemas.openxmlformats.org/drawingml/2006/main">
            <a:off x="1018018" y="1952625"/>
            <a:ext cx="3964714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f5e9d6d6a480b"/>
          <a:stretch xmlns:a="http://schemas.openxmlformats.org/drawingml/2006/main"/>
        </p:blipFill>
        <p:spPr>
          <a:xfrm xmlns:a="http://schemas.openxmlformats.org/drawingml/2006/main">
            <a:off x="6422048" y="1809750"/>
            <a:ext cx="2967404" cy="4286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946054579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2026-06-15T20:02:10.9980000Z</dcterms:created>
  <dcterms:modified xsi:type="dcterms:W3CDTF">2026-06-15T20:02:10.9980000Z</dcterms:modified>
</coreProperties>
</file>